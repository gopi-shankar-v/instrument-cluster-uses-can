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4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48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3" y="-3591"/>
            <a:ext cx="475488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475488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2513" y="692325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A3A6B"/>
          </a:solidFill>
          <a:ln w="1905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2513" y="802053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</a:rPr>
              <a:t>LPC2129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2513" y="1131237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ARM7TDMI-S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60 MHz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442753" y="692325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D1F3C"/>
          </a:solidFill>
          <a:ln w="19050">
            <a:solidFill>
              <a:srgbClr val="FF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42753" y="802053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CAN Bus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42753" y="1131237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100 kbps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0x212–0x217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5353" y="1835325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ARM-Based Real-Time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5353" y="2338245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Digital Automotive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85353" y="2841165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C8FF"/>
                </a:solidFill>
              </a:rPr>
              <a:t>Instrument Cluster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85353" y="3526965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</a:rPr>
              <a:t>CAN Protocol Integration  •  LPC2129  •  Bare-Metal 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5353" y="4075605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0C8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5353" y="4075605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</a:rPr>
              <a:t>ADC Sensors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71920" y="4075605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69093" y="4075605"/>
            <a:ext cx="74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</a:rPr>
              <a:t>16×2 LCD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46057" y="4075605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0E67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8592" y="4075605"/>
            <a:ext cx="714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</a:rPr>
              <a:t>CAN 2.0B</a:t>
            </a:r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298D54-3C84-2E34-F841-D1BFBE48FF10}"/>
              </a:ext>
            </a:extLst>
          </p:cNvPr>
          <p:cNvSpPr txBox="1"/>
          <p:nvPr/>
        </p:nvSpPr>
        <p:spPr>
          <a:xfrm>
            <a:off x="5828633" y="641193"/>
            <a:ext cx="3104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VECTOR INDIA PVT LTD, 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BANGALORE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F62A0-7FEF-4ED2-DC5E-BEE04215D8F0}"/>
              </a:ext>
            </a:extLst>
          </p:cNvPr>
          <p:cNvSpPr txBox="1"/>
          <p:nvPr/>
        </p:nvSpPr>
        <p:spPr>
          <a:xfrm>
            <a:off x="5084630" y="2438400"/>
            <a:ext cx="170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Precented By-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17BCB-0EF2-A30E-5D9D-1675067ADC58}"/>
              </a:ext>
            </a:extLst>
          </p:cNvPr>
          <p:cNvSpPr txBox="1"/>
          <p:nvPr/>
        </p:nvSpPr>
        <p:spPr>
          <a:xfrm>
            <a:off x="5653313" y="3063240"/>
            <a:ext cx="2917371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GOPI SHANKAR V - V25BE5G12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KABULLA P	            - V25BE5P9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UDAY KIRAN C      - V25BE5C2 </a:t>
            </a:r>
            <a:endParaRPr lang="en-IN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VISHAL K               - V25BE5V7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17C4EB-5A39-A757-753A-2E422F9C6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58" y="648450"/>
            <a:ext cx="761275" cy="8404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EC5"/>
                </a:solidFill>
              </a:rPr>
              <a:t>End-to-end architecture: sensors → CAN bus → display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3017520" cy="3749040"/>
          </a:xfrm>
          <a:prstGeom prst="roundRect">
            <a:avLst>
              <a:gd name="adj" fmla="val 4545"/>
            </a:avLst>
          </a:prstGeom>
          <a:solidFill>
            <a:srgbClr val="0D1F3C"/>
          </a:solidFill>
          <a:ln w="2540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972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FF"/>
                </a:solidFill>
              </a:rPr>
              <a:t>NODE 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147740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Sensor &amp; Input Node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882355"/>
            <a:ext cx="2615184" cy="566928"/>
          </a:xfrm>
          <a:prstGeom prst="roundRect">
            <a:avLst>
              <a:gd name="adj" fmla="val 12903"/>
            </a:avLst>
          </a:prstGeom>
          <a:solidFill>
            <a:srgbClr val="0D1F3C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882355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Speed Sensor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(ADC ch2 P0.29)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2832027"/>
            <a:ext cx="2615184" cy="566928"/>
          </a:xfrm>
          <a:prstGeom prst="roundRect">
            <a:avLst>
              <a:gd name="adj" fmla="val 12903"/>
            </a:avLst>
          </a:prstGeom>
          <a:solidFill>
            <a:srgbClr val="0D1F3C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832027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Temp Sensor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(ADC ch1 P0.28)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3762093"/>
            <a:ext cx="2615184" cy="566928"/>
          </a:xfrm>
          <a:prstGeom prst="roundRect">
            <a:avLst>
              <a:gd name="adj" fmla="val 12903"/>
            </a:avLst>
          </a:prstGeom>
          <a:solidFill>
            <a:srgbClr val="0D1F3C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762093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Buttons EINT0/1/2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2194560"/>
            <a:ext cx="2103120" cy="1280160"/>
          </a:xfrm>
          <a:prstGeom prst="roundRect">
            <a:avLst>
              <a:gd name="adj" fmla="val 8571"/>
            </a:avLst>
          </a:prstGeom>
          <a:solidFill>
            <a:srgbClr val="1A0A2E"/>
          </a:solidFill>
          <a:ln w="31750">
            <a:solidFill>
              <a:srgbClr val="FF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</a:rPr>
              <a:t>CAN 2.0B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</a:rPr>
              <a:t>BUS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0440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100 kbps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IDs: 0x212–0x216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18688" y="2834640"/>
            <a:ext cx="301752" cy="0"/>
          </a:xfrm>
          <a:prstGeom prst="line">
            <a:avLst/>
          </a:prstGeom>
          <a:noFill/>
          <a:ln w="31750">
            <a:solidFill>
              <a:srgbClr val="00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3474720" y="2779776"/>
            <a:ext cx="109728" cy="1097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1118" y="266077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FF"/>
                </a:solidFill>
              </a:rPr>
              <a:t>TX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0" y="1005840"/>
            <a:ext cx="3017520" cy="3749040"/>
          </a:xfrm>
          <a:prstGeom prst="roundRect">
            <a:avLst>
              <a:gd name="adj" fmla="val 4545"/>
            </a:avLst>
          </a:prstGeom>
          <a:solidFill>
            <a:srgbClr val="0D1F3C"/>
          </a:solidFill>
          <a:ln w="25400">
            <a:solidFill>
              <a:srgbClr val="FF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0" y="1090743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</a:rPr>
              <a:t>NODE  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1438215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Display &amp; Output Node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44768" y="1830099"/>
            <a:ext cx="2615184" cy="566928"/>
          </a:xfrm>
          <a:prstGeom prst="roundRect">
            <a:avLst>
              <a:gd name="adj" fmla="val 12903"/>
            </a:avLst>
          </a:prstGeom>
          <a:solidFill>
            <a:srgbClr val="0D1F3C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830099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16×2 LCD Display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(4-bit, Port 1)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44768" y="2747115"/>
            <a:ext cx="2615184" cy="566928"/>
          </a:xfrm>
          <a:prstGeom prst="roundRect">
            <a:avLst>
              <a:gd name="adj" fmla="val 12903"/>
            </a:avLst>
          </a:prstGeom>
          <a:solidFill>
            <a:srgbClr val="0D1F3C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734053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LED Indicators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(P0.17/18/19)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4768" y="3679799"/>
            <a:ext cx="2615184" cy="566928"/>
          </a:xfrm>
          <a:prstGeom prst="roundRect">
            <a:avLst>
              <a:gd name="adj" fmla="val 12903"/>
            </a:avLst>
          </a:prstGeom>
          <a:solidFill>
            <a:srgbClr val="0D1F3C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3679799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CAN RX ISR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+ Acceptance Filter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23560" y="2834640"/>
            <a:ext cx="32004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5888736" y="2779776"/>
            <a:ext cx="109728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01150" y="266077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</a:rPr>
              <a:t>RX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FF"/>
                </a:solidFill>
              </a:rPr>
              <a:t>Node A — Sensor &amp; Transmitter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LPC2129 reads sensors and switch states, then transmits 6 CAN message types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" y="1463023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463023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Speed Pot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ADC ch2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1847071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FF"/>
                </a:solidFill>
              </a:rPr>
              <a:t>P0.29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2130535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130535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LM35 Temp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ADC ch1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2514583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FF"/>
                </a:solidFill>
              </a:rPr>
              <a:t>P0.28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2798047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798047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Left Indicator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EINT0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" y="3182095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B35"/>
                </a:solidFill>
              </a:rPr>
              <a:t>P0.16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3465559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3465559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Right Indicator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EINT1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" y="3849607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B35"/>
                </a:solidFill>
              </a:rPr>
              <a:t>P0.14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4133071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133071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Head Light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EINT2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" y="4517119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B35"/>
                </a:solidFill>
              </a:rPr>
              <a:t>P0.15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34640" y="1325871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0D1F3C"/>
          </a:solidFill>
          <a:ln w="2540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34640" y="1344159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FF"/>
                </a:solidFill>
              </a:rPr>
              <a:t>LPC2129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999232" y="1856223"/>
            <a:ext cx="2414016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1856223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</a:rPr>
              <a:t>Timer1 ISR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</a:rPr>
              <a:t>(1 sec tick)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99232" y="2566191"/>
            <a:ext cx="2414016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2566191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</a:rPr>
              <a:t>EINT0/1/2 ISR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999232" y="3259825"/>
            <a:ext cx="2414016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259825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</a:rPr>
              <a:t>ADC Driver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99232" y="3977951"/>
            <a:ext cx="2414016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3977951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</a:rPr>
              <a:t>CAN2 TX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41572" y="1444889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41572" y="1444889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</a:rPr>
              <a:t>0x215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41572" y="1719209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Speed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41572" y="2112401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41572" y="211240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</a:rPr>
              <a:t>0x216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41572" y="2386721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Temp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41572" y="2779913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41572" y="2779913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0x212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41572" y="3054233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Left Indi.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41572" y="3447425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41572" y="3447425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0x214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41572" y="3721745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Right Indi.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41572" y="4114937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41572" y="4114937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0x213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41572" y="4389257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Head Light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0" y="1746487"/>
            <a:ext cx="548640" cy="0"/>
          </a:xfrm>
          <a:prstGeom prst="line">
            <a:avLst/>
          </a:prstGeom>
          <a:noFill/>
          <a:ln w="15240">
            <a:solidFill>
              <a:srgbClr val="607D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0" y="2413999"/>
            <a:ext cx="548640" cy="0"/>
          </a:xfrm>
          <a:prstGeom prst="line">
            <a:avLst/>
          </a:prstGeom>
          <a:noFill/>
          <a:ln w="15240">
            <a:solidFill>
              <a:srgbClr val="607D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0" y="3081511"/>
            <a:ext cx="548640" cy="0"/>
          </a:xfrm>
          <a:prstGeom prst="line">
            <a:avLst/>
          </a:prstGeom>
          <a:noFill/>
          <a:ln w="15240">
            <a:solidFill>
              <a:srgbClr val="607D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86000" y="3749023"/>
            <a:ext cx="548640" cy="0"/>
          </a:xfrm>
          <a:prstGeom prst="line">
            <a:avLst/>
          </a:prstGeom>
          <a:noFill/>
          <a:ln w="15240">
            <a:solidFill>
              <a:srgbClr val="607D8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0" y="4416535"/>
            <a:ext cx="548640" cy="0"/>
          </a:xfrm>
          <a:prstGeom prst="line">
            <a:avLst/>
          </a:prstGeom>
          <a:noFill/>
          <a:ln w="15240">
            <a:solidFill>
              <a:srgbClr val="607D8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77840" y="1728348"/>
            <a:ext cx="457200" cy="0"/>
          </a:xfrm>
          <a:prstGeom prst="line">
            <a:avLst/>
          </a:prstGeom>
          <a:noFill/>
          <a:ln w="15240">
            <a:solidFill>
              <a:srgbClr val="607D8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77840" y="2395860"/>
            <a:ext cx="457200" cy="0"/>
          </a:xfrm>
          <a:prstGeom prst="line">
            <a:avLst/>
          </a:prstGeom>
          <a:noFill/>
          <a:ln w="15240">
            <a:solidFill>
              <a:srgbClr val="607D8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77840" y="3063372"/>
            <a:ext cx="457200" cy="0"/>
          </a:xfrm>
          <a:prstGeom prst="line">
            <a:avLst/>
          </a:prstGeom>
          <a:noFill/>
          <a:ln w="15240">
            <a:solidFill>
              <a:srgbClr val="607D8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77840" y="3730884"/>
            <a:ext cx="457200" cy="0"/>
          </a:xfrm>
          <a:prstGeom prst="line">
            <a:avLst/>
          </a:prstGeom>
          <a:noFill/>
          <a:ln w="15240">
            <a:solidFill>
              <a:srgbClr val="607D8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77840" y="4398396"/>
            <a:ext cx="457200" cy="0"/>
          </a:xfrm>
          <a:prstGeom prst="line">
            <a:avLst/>
          </a:prstGeom>
          <a:noFill/>
          <a:ln w="15240">
            <a:solidFill>
              <a:srgbClr val="607D8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67312" y="886312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67312" y="88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CAN2 TX  →  Node 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35"/>
                </a:solidFill>
              </a:rPr>
              <a:t>Node B — Display &amp;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CAN RX interrupt → decode message → update LCD / LEDs / Buzzer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743200" cy="3749040"/>
          </a:xfrm>
          <a:prstGeom prst="roundRect">
            <a:avLst>
              <a:gd name="adj" fmla="val 5000"/>
            </a:avLst>
          </a:prstGeom>
          <a:solidFill>
            <a:srgbClr val="0D1F3C"/>
          </a:solidFill>
          <a:ln w="25400">
            <a:solidFill>
              <a:srgbClr val="FF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0241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</a:rPr>
              <a:t>LPC2129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64992" y="1536192"/>
            <a:ext cx="2414016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64992" y="1536192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CAN2 RX ISR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64992" y="2311140"/>
            <a:ext cx="2414016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2311140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Acceptance Filter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0x212–0x217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64992" y="3086094"/>
            <a:ext cx="2414016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308609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LCD 4-bit Driver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+ CGRAM chars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64992" y="3877376"/>
            <a:ext cx="2414016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387737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GPIO LED Control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1446714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144671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0x212 — Left Indi.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1711890"/>
            <a:ext cx="36576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068506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06850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0x213 — Head Light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2333682"/>
            <a:ext cx="36576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690298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69029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0x214 — Right Indi.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34640" y="2955474"/>
            <a:ext cx="36576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312090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331209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0x215 — Speed ADC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3577266"/>
            <a:ext cx="36576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933882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393388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0x216 — Engine Temp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4199058"/>
            <a:ext cx="36576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1465216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46521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16×2 LCD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(Port 1, 4-bit mode)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0" y="1776112"/>
            <a:ext cx="36576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2215024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21502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Left Indicator LED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P0.17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43600" y="2525920"/>
            <a:ext cx="36576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2964832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29648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Head Light LED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P0.18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0" y="3275728"/>
            <a:ext cx="36576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3714640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37146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Right Indicator LED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P0.19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43600" y="4025536"/>
            <a:ext cx="36576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CAN Protocol — Frame Structure &amp; Message Table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49808"/>
            <a:ext cx="411480" cy="502920"/>
          </a:xfrm>
          <a:prstGeom prst="rect">
            <a:avLst/>
          </a:prstGeom>
          <a:solidFill>
            <a:srgbClr val="1A2A3A"/>
          </a:solidFill>
          <a:ln w="22860">
            <a:solidFill>
              <a:srgbClr val="607D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</a:rPr>
              <a:t>SOF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749808"/>
            <a:ext cx="1005840" cy="502920"/>
          </a:xfrm>
          <a:prstGeom prst="rect">
            <a:avLst/>
          </a:prstGeom>
          <a:solidFill>
            <a:srgbClr val="0D1F3C"/>
          </a:solidFill>
          <a:ln w="2286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7498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(11-bit)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91640" y="749808"/>
            <a:ext cx="411480" cy="502920"/>
          </a:xfrm>
          <a:prstGeom prst="rect">
            <a:avLst/>
          </a:prstGeom>
          <a:solidFill>
            <a:srgbClr val="1A2A3A"/>
          </a:solidFill>
          <a:ln w="22860">
            <a:solidFill>
              <a:srgbClr val="607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</a:rPr>
              <a:t>RTR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03120" y="749808"/>
            <a:ext cx="640080" cy="502920"/>
          </a:xfrm>
          <a:prstGeom prst="rect">
            <a:avLst/>
          </a:prstGeom>
          <a:solidFill>
            <a:srgbClr val="0D1F3C"/>
          </a:solidFill>
          <a:ln w="2286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7498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DLC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(4-bit)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0" y="749808"/>
            <a:ext cx="2286000" cy="502920"/>
          </a:xfrm>
          <a:prstGeom prst="rect">
            <a:avLst/>
          </a:prstGeom>
          <a:solidFill>
            <a:srgbClr val="0D1F3C"/>
          </a:solidFill>
          <a:ln w="2286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7498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DATA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(0–8 bytes)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0" y="749808"/>
            <a:ext cx="914400" cy="502920"/>
          </a:xfrm>
          <a:prstGeom prst="rect">
            <a:avLst/>
          </a:prstGeom>
          <a:solidFill>
            <a:srgbClr val="1A2A3A"/>
          </a:solidFill>
          <a:ln w="22860">
            <a:solidFill>
              <a:srgbClr val="607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749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</a:rPr>
              <a:t>CRC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</a:rPr>
              <a:t>(15-bit)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0" y="749808"/>
            <a:ext cx="457200" cy="502920"/>
          </a:xfrm>
          <a:prstGeom prst="rect">
            <a:avLst/>
          </a:prstGeom>
          <a:solidFill>
            <a:srgbClr val="1A2A3A"/>
          </a:solidFill>
          <a:ln w="22860">
            <a:solidFill>
              <a:srgbClr val="607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7498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</a:rPr>
              <a:t>ACK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0" y="749808"/>
            <a:ext cx="502920" cy="502920"/>
          </a:xfrm>
          <a:prstGeom prst="rect">
            <a:avLst/>
          </a:prstGeom>
          <a:solidFill>
            <a:srgbClr val="1A2A3A"/>
          </a:solidFill>
          <a:ln w="22860">
            <a:solidFill>
              <a:srgbClr val="607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749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</a:rPr>
              <a:t>EOF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1490613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</a:rPr>
              <a:t>Standard CAN 2.0A / 2.0B Frame  •  100 kbps  •  LPC2129 CAN2 Controller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1968135"/>
            <a:ext cx="8631936" cy="438912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2004711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CAN 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43584" y="2004711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66544" y="2004711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byteA Value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46704" y="2004711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04304" y="2004711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Recipient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2407047"/>
            <a:ext cx="8631936" cy="4389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2443623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FF"/>
                </a:solidFill>
              </a:rPr>
              <a:t>0x212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43584" y="2443623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Node 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66544" y="2443623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0x02 / 0x03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46704" y="2443623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Left Indicator ON / OFF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004304" y="2443623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Node 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2845959"/>
            <a:ext cx="8631936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2882535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FF"/>
                </a:solidFill>
              </a:rPr>
              <a:t>0x213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243584" y="2882535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Node 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66544" y="2882535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0x04 / 0x05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46704" y="288253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Head Light ON / OFF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04304" y="2882535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Node 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3284871"/>
            <a:ext cx="8631936" cy="4389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3321447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FF"/>
                </a:solidFill>
              </a:rPr>
              <a:t>0x214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243584" y="3321447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Node 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066544" y="3321447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0x06 / 0x07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46704" y="3321447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Right Indicator ON / OFF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04304" y="3321447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Node 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3723783"/>
            <a:ext cx="8631936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3760359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FF"/>
                </a:solidFill>
              </a:rPr>
              <a:t>0x215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243584" y="3760359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Node 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066544" y="3760359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0–1023 (raw)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346704" y="3760359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Speed ADC value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004304" y="3760359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Node B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56032" y="4162695"/>
            <a:ext cx="8631936" cy="4389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" y="4199271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FF"/>
                </a:solidFill>
              </a:rPr>
              <a:t>0x216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243584" y="4199271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Node 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066544" y="4199271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0–1023 (raw)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346704" y="4199271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Engine Temperature ADC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004304" y="4199271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Node B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16×2 LCD Display Layout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74482"/>
            <a:ext cx="7680960" cy="2743200"/>
          </a:xfrm>
          <a:prstGeom prst="roundRect">
            <a:avLst>
              <a:gd name="adj" fmla="val 6667"/>
            </a:avLst>
          </a:prstGeom>
          <a:solidFill>
            <a:srgbClr val="0A1A0A"/>
          </a:solidFill>
          <a:ln w="38100">
            <a:solidFill>
              <a:srgbClr val="00E676"/>
            </a:solidFill>
            <a:prstDash val="solid"/>
          </a:ln>
          <a:effectLst>
            <a:outerShdw blurRad="254000" dist="50800" dir="8100000" algn="bl" rotWithShape="0">
              <a:srgbClr val="00E67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33272" y="1176234"/>
            <a:ext cx="7132320" cy="2103120"/>
          </a:xfrm>
          <a:prstGeom prst="rect">
            <a:avLst/>
          </a:prstGeom>
          <a:solidFill>
            <a:srgbClr val="091A09"/>
          </a:solidFill>
          <a:ln w="12700">
            <a:solidFill>
              <a:srgbClr val="00A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2809" y="1364917"/>
            <a:ext cx="6711991" cy="749808"/>
          </a:xfrm>
          <a:prstGeom prst="rect">
            <a:avLst/>
          </a:prstGeom>
          <a:solidFill>
            <a:srgbClr val="0A200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2810" y="2308635"/>
            <a:ext cx="6711990" cy="749808"/>
          </a:xfrm>
          <a:prstGeom prst="rect">
            <a:avLst/>
          </a:prstGeom>
          <a:solidFill>
            <a:srgbClr val="0A200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8239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8239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4291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4291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0343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90343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6395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06395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2447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2447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8499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8499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4551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4551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70603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70603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86655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86655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02707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02707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8759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18759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34811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34811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0863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50863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66915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66915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2967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2967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9019" y="1394235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9019" y="2345211"/>
            <a:ext cx="379476" cy="676656"/>
          </a:xfrm>
          <a:prstGeom prst="rect">
            <a:avLst/>
          </a:prstGeom>
          <a:solidFill>
            <a:srgbClr val="000000"/>
          </a:solidFill>
          <a:ln w="6350">
            <a:solidFill>
              <a:srgbClr val="1A4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58239" y="1412523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←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586655" y="1412523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76"/>
                </a:solidFill>
              </a:rPr>
              <a:t>☀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499019" y="1412523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F"/>
                </a:solidFill>
              </a:rPr>
              <a:t>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58239" y="2363499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1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674291" y="2363499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090343" y="2363499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506395" y="2363499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k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922447" y="2363499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m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338499" y="2363499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/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754551" y="2363499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h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945636" y="2182074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 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361688" y="2182074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 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777740" y="2182074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 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418759" y="2363499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834811" y="2363499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50863" y="2363499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.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666915" y="2363499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6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082967" y="2363499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°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274052" y="2182074"/>
            <a:ext cx="379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 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1024128" y="920202"/>
            <a:ext cx="6638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07D8B"/>
                </a:solidFill>
              </a:rPr>
              <a:t>Col:  0   1   2   3   4   5   6   7   8   9  10  11  12  13  14  15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67647" y="4012323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D1F3C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9151" y="4012323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</a:rPr>
              <a:t>← Left Indicator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</a:rPr>
              <a:t>(CGRAM slot 0)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303270" y="4008555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D1F3C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03270" y="4008555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☀ Head Light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E676"/>
                </a:solidFill>
              </a:rPr>
              <a:t>(CGRAM slot 1)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41948" y="4008555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D1F3C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41948" y="4008555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FF"/>
                </a:solidFill>
              </a:rPr>
              <a:t>→ Right Indicator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C8FF"/>
                </a:solidFill>
              </a:rPr>
              <a:t>(CGRAM slot 2)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292497" y="3201555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8FF"/>
                </a:solidFill>
              </a:rPr>
              <a:t>Speed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C8FF"/>
                </a:solidFill>
              </a:rPr>
              <a:t>0–200 km/h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417320" y="3078186"/>
            <a:ext cx="0" cy="0"/>
          </a:xfrm>
          <a:prstGeom prst="line">
            <a:avLst/>
          </a:prstGeom>
          <a:noFill/>
          <a:ln w="12700">
            <a:solidFill>
              <a:srgbClr val="00C8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86431" y="3201555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B35"/>
                </a:solidFill>
              </a:rPr>
              <a:t>Engine Temp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6B35"/>
                </a:solidFill>
              </a:rPr>
              <a:t>°C (LM35)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FF"/>
                </a:solidFill>
              </a:rPr>
              <a:t>ADC &amp; Sensor Interface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10-bit on-chip ADC  •  Software-triggered single conversion  •  60 MHz PCLK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</a:rPr>
              <a:t>Speed Channel  (ADC ch2)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Potentiometer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(0–3.3V)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00200" y="1472184"/>
            <a:ext cx="11887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11887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188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P0.29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AD0.2 pin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44952" y="1472184"/>
            <a:ext cx="11887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11887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1188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ADCR SEL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bit-2 set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9704" y="1472184"/>
            <a:ext cx="11887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11887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188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10-bit Conv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~25 cycles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34456" y="1472184"/>
            <a:ext cx="11887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3328" y="11887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1188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ADDR[15:6]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Result reg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79208" y="1472184"/>
            <a:ext cx="118872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1887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188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0x215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CAN TX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" y="23774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Temperature Channel  (ADC ch1)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6517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6517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LM35 Sensor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10mV/°C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00200" y="2935224"/>
            <a:ext cx="118872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19072" y="26517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19072" y="26517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P0.28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AD0.1 pin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044952" y="2935224"/>
            <a:ext cx="118872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3824" y="26517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63824" y="26517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ADCR SEL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bit-1 set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89704" y="2935224"/>
            <a:ext cx="118872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08576" y="26517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8576" y="26517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10-bit Conv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~25 cycles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34456" y="2935224"/>
            <a:ext cx="118872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53328" y="26517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53328" y="26517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ADDR[15:6]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Result reg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79208" y="2935224"/>
            <a:ext cx="118872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26517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26517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0x216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CAN TX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3456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ADC Registers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74320" y="3767328"/>
            <a:ext cx="8595360" cy="32918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7673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</a:rPr>
              <a:t>PINSEL1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371600" y="37673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</a:rPr>
              <a:t>[25:24]=01 &amp; [27:26]=01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60520" y="37673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Route P0.28,29 to ADC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114800"/>
            <a:ext cx="8595360" cy="329184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114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</a:rPr>
              <a:t>ADCR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371600" y="4114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</a:rPr>
              <a:t>[21]=1 (PDN), [26:24]=001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60520" y="41148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Power-up, start conversion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4462272"/>
            <a:ext cx="8595360" cy="32918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4622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</a:rPr>
              <a:t>ADDR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371600" y="44622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</a:rPr>
              <a:t>[15:6]=result, [31]=DONE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60520" y="44622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Read 10-bit result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Interrupt Architecture — VIC &amp; Timer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LPC2129 Vectored Interrupt Controller routes 4 sources into Node A firmware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91840" y="96012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0D1F3C"/>
          </a:solidFill>
          <a:ln w="2540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0" y="9875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F"/>
                </a:solidFill>
              </a:rPr>
              <a:t>VIC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9184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Vectored Interrupt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Controller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56432" y="1810512"/>
            <a:ext cx="2231136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8105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</a:rPr>
              <a:t>Slot 0  Src 15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07408" y="18105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EINT1_Handler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56432" y="2359152"/>
            <a:ext cx="2231136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3591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</a:rPr>
              <a:t>Slot 1  Src 14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07408" y="23591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EINT0_Handler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56432" y="2907792"/>
            <a:ext cx="2231136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9077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FF"/>
                </a:solidFill>
              </a:rPr>
              <a:t>Slot 2  Src  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07408" y="29077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TIMER1_Handler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56432" y="3456432"/>
            <a:ext cx="2231136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4564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</a:rPr>
              <a:t>Slot 3  Src 16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07408" y="34564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EINT2_Handler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987552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98755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</a:rPr>
              <a:t>P0.14 EINT1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" y="12618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Right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Indicator Btn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834640" y="1325880"/>
            <a:ext cx="4572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1810512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181051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</a:rPr>
              <a:t>P0.16 EINT0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" y="208483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Left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Indicator Btn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34640" y="2148840"/>
            <a:ext cx="4572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2633472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263347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</a:rPr>
              <a:t>Timer 1 MR0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" y="290779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1-sec ADC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34640" y="2971800"/>
            <a:ext cx="45720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3456432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345643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</a:rPr>
              <a:t>P0.15 EINT2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" y="373075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Head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Light Btn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834640" y="3794760"/>
            <a:ext cx="4572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987552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98755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</a:rPr>
              <a:t>flag2 = 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44768" y="126187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CAN TX 0x214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Right indicator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852160" y="1325880"/>
            <a:ext cx="27432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1810512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44768" y="181051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</a:rPr>
              <a:t>flag1 = 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44768" y="208483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CAN TX 0x212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Left indicator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852160" y="2148840"/>
            <a:ext cx="27432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2633472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44768" y="2633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</a:rPr>
              <a:t>flag = 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44768" y="290779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ADC read ch1,ch2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852160" y="2971800"/>
            <a:ext cx="27432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3456432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4768" y="345643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</a:rPr>
              <a:t>flag3 = 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44768" y="373075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CAN TX 0x213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</a:rPr>
              <a:t>Head light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52160" y="3794760"/>
            <a:ext cx="27432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2880" y="4297680"/>
            <a:ext cx="8778240" cy="658368"/>
          </a:xfrm>
          <a:prstGeom prst="roundRect">
            <a:avLst>
              <a:gd name="adj" fmla="val 13889"/>
            </a:avLst>
          </a:prstGeom>
          <a:solidFill>
            <a:srgbClr val="111827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315968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FF"/>
                </a:solidFill>
              </a:rPr>
              <a:t>Timer1 Formula:  T1PR = PCLK − 1 = 59,999,999  |  T1MR0 = 1  |  T1MCR = 3 (Interrupt + Reset)  →  1 second period  @  60 MHz PCLK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21061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1545189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86384" y="1563477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ARM7TDMI-S @ 60MHz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1819509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LPC2129 bare-metal 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2166981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6384" y="2185269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CAN 2.0B @ 100 kbps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2441301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6 message IDs, acceptance filter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788773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2807061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16×2 LCD  4-bit mode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3063093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CGRAM arrows &amp; sun symbols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" y="3410565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6384" y="3428853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Interrupt sources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" y="3684885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VIC, EINT0/1/2, Timer1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" y="4032357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6384" y="4050645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ADC sensors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" y="4306677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Speed ch2 + Temperature ch1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201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Deliverable Files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34840" y="658368"/>
            <a:ext cx="4526280" cy="292608"/>
          </a:xfrm>
          <a:prstGeom prst="rect">
            <a:avLst/>
          </a:prstGeom>
          <a:solidFill>
            <a:srgbClr val="0D1F3C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3128" y="658368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</a:rPr>
              <a:t>Node A  (Sensor / TX)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95097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    header.h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34840" y="12252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    delay.c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34840" y="149961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    ADC.c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34840" y="177393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    CAN-driver.c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34840" y="20482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    Amain.c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34840" y="232257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    eint0.c / eint1.c / eint2.c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34840" y="25968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    timer_interrupt.c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4840" y="2944368"/>
            <a:ext cx="4526280" cy="292608"/>
          </a:xfrm>
          <a:prstGeom prst="rect">
            <a:avLst/>
          </a:prstGeom>
          <a:solidFill>
            <a:srgbClr val="1A0D0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53128" y="2944368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</a:rPr>
              <a:t>Node B  (Display / RX)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34840" y="323697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    header.h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34840" y="35112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    delay.c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34840" y="378561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    lcd4-bit-driver.c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34840" y="405993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    CAN-driver.c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34840" y="43342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    Bmain.c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57621" y="4765911"/>
            <a:ext cx="4864608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61104" y="4765911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FF"/>
                </a:solidFill>
              </a:rPr>
              <a:t>ARM Bare-Metal  •  Real-Time  •  CAN Protocol  •  Automotive Cluster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865</Words>
  <Application>Microsoft Office PowerPoint</Application>
  <PresentationFormat>On-screen Show (16:9)</PresentationFormat>
  <Paragraphs>290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Gopi Shankar</cp:lastModifiedBy>
  <cp:revision>3</cp:revision>
  <dcterms:created xsi:type="dcterms:W3CDTF">2026-04-28T09:04:04Z</dcterms:created>
  <dcterms:modified xsi:type="dcterms:W3CDTF">2026-04-29T10:19:41Z</dcterms:modified>
</cp:coreProperties>
</file>